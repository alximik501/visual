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82" r:id="rId3"/>
    <p:sldId id="260" r:id="rId4"/>
    <p:sldId id="284" r:id="rId5"/>
    <p:sldId id="268" r:id="rId6"/>
    <p:sldId id="273" r:id="rId7"/>
    <p:sldId id="285" r:id="rId8"/>
    <p:sldId id="272" r:id="rId9"/>
    <p:sldId id="270" r:id="rId10"/>
    <p:sldId id="291" r:id="rId11"/>
    <p:sldId id="289" r:id="rId12"/>
    <p:sldId id="274" r:id="rId13"/>
    <p:sldId id="257" r:id="rId14"/>
    <p:sldId id="287" r:id="rId15"/>
    <p:sldId id="290" r:id="rId16"/>
    <p:sldId id="275" r:id="rId17"/>
    <p:sldId id="288" r:id="rId18"/>
    <p:sldId id="266" r:id="rId19"/>
    <p:sldId id="276" r:id="rId20"/>
    <p:sldId id="277" r:id="rId21"/>
    <p:sldId id="278" r:id="rId22"/>
    <p:sldId id="279" r:id="rId23"/>
    <p:sldId id="269" r:id="rId24"/>
    <p:sldId id="265" r:id="rId25"/>
    <p:sldId id="262" r:id="rId26"/>
    <p:sldId id="280" r:id="rId27"/>
    <p:sldId id="261" r:id="rId28"/>
    <p:sldId id="292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81" d="100"/>
          <a:sy n="81" d="100"/>
        </p:scale>
        <p:origin x="90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Лист1!$F$3</c:f>
              <c:strCache>
                <c:ptCount val="1"/>
                <c:pt idx="0">
                  <c:v>Факт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59209174940089E-2"/>
                  <c:y val="8.275086881322481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F10-48FA-9FBC-A9896465B069}"/>
                </c:ext>
              </c:extLst>
            </c:dLbl>
            <c:dLbl>
              <c:idx val="1"/>
              <c:layout>
                <c:manualLayout>
                  <c:x val="-2.7373235954201377E-2"/>
                  <c:y val="7.983222631751424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F10-48FA-9FBC-A9896465B06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highlight>
                      <a:srgbClr val="FFFF00"/>
                    </a:highlight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Лист1!$E$4:$E$10</c:f>
              <c:numCache>
                <c:formatCode>General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Лист1!$F$4:$F$10</c:f>
              <c:numCache>
                <c:formatCode>General</c:formatCode>
                <c:ptCount val="7"/>
                <c:pt idx="0">
                  <c:v>17.8</c:v>
                </c:pt>
                <c:pt idx="1">
                  <c:v>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F10-48FA-9FBC-A9896465B069}"/>
            </c:ext>
          </c:extLst>
        </c:ser>
        <c:ser>
          <c:idx val="1"/>
          <c:order val="1"/>
          <c:tx>
            <c:strRef>
              <c:f>Лист1!$G$3</c:f>
              <c:strCache>
                <c:ptCount val="1"/>
                <c:pt idx="0">
                  <c:v>План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Лист1!$E$4:$E$10</c:f>
              <c:numCache>
                <c:formatCode>General</c:formatCod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numCache>
            </c:numRef>
          </c:cat>
          <c:val>
            <c:numRef>
              <c:f>Лист1!$G$4:$G$10</c:f>
              <c:numCache>
                <c:formatCode>General</c:formatCode>
                <c:ptCount val="7"/>
                <c:pt idx="0">
                  <c:v>18.399999999999999</c:v>
                </c:pt>
                <c:pt idx="1">
                  <c:v>17.2</c:v>
                </c:pt>
                <c:pt idx="2">
                  <c:v>16.5</c:v>
                </c:pt>
                <c:pt idx="3">
                  <c:v>15.9</c:v>
                </c:pt>
                <c:pt idx="4">
                  <c:v>15.3</c:v>
                </c:pt>
                <c:pt idx="5">
                  <c:v>14.6</c:v>
                </c:pt>
                <c:pt idx="6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F10-48FA-9FBC-A9896465B06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39969264"/>
        <c:axId val="316326928"/>
      </c:lineChart>
      <c:catAx>
        <c:axId val="739969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16326928"/>
        <c:crosses val="autoZero"/>
        <c:auto val="1"/>
        <c:lblAlgn val="ctr"/>
        <c:lblOffset val="100"/>
        <c:noMultiLvlLbl val="0"/>
      </c:catAx>
      <c:valAx>
        <c:axId val="316326928"/>
        <c:scaling>
          <c:orientation val="minMax"/>
          <c:max val="19"/>
          <c:min val="13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39969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Геморрагический инсульт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27.7</c:v>
                </c:pt>
                <c:pt idx="1">
                  <c:v>31.1</c:v>
                </c:pt>
                <c:pt idx="2">
                  <c:v>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F6F-4B7A-94E5-A0322849FA91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Ишемический инсульт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16.399999999999999</c:v>
                </c:pt>
                <c:pt idx="1">
                  <c:v>15.4</c:v>
                </c:pt>
                <c:pt idx="2">
                  <c:v>13.9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F6F-4B7A-94E5-A0322849FA9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618553503"/>
        <c:axId val="1618538943"/>
      </c:lineChart>
      <c:catAx>
        <c:axId val="1618553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18538943"/>
        <c:crosses val="autoZero"/>
        <c:auto val="1"/>
        <c:lblAlgn val="ctr"/>
        <c:lblOffset val="100"/>
        <c:noMultiLvlLbl val="0"/>
      </c:catAx>
      <c:valAx>
        <c:axId val="1618538943"/>
        <c:scaling>
          <c:orientation val="minMax"/>
          <c:min val="1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185535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CE6F16-5AD8-4776-9B1D-71F85D3C0AC2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54F5CB-7577-4E84-9D94-9112B6217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765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8813F3-6968-4236-95A3-F1686F89E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86FA503-53C7-4D25-98B1-06103A2F5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A2E77A-ACA7-4B0A-BAB7-0B1B9A7B9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5A6B-E75F-4715-95DD-3A950893076C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A4B52B-CD39-424C-B79B-1A7DC3967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9A5D39-CBB6-4A91-A379-F48FC8187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03525-FCB1-452E-9943-8E966A42E9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0375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4D924-E7AE-4B51-85EB-AADEAF5A5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79697F-A630-41A3-9CC6-01E161FBC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37529A-21FB-41A2-881F-A9F385648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5A6B-E75F-4715-95DD-3A950893076C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D9557F-B9DA-4674-834D-28327F8A3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0727F5-4ED9-416C-9460-478D5C185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03525-FCB1-452E-9943-8E966A42E9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7423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297A8A-528C-48EE-A5B7-2F1891D95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A2A9CD-B174-4561-82B7-E53D4313F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D6B671-8772-4543-8709-7B17D595D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5A6B-E75F-4715-95DD-3A950893076C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878DC1-A770-4F87-951C-FC9844E7F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AB7AB8-168D-4F8D-8A2D-24B1D6481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03525-FCB1-452E-9943-8E966A42E9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786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887260-7599-4745-B958-E0BAB6473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240A04-E3D9-48B7-B336-DE5C192499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465655-3609-4465-BC5A-31BCD0F07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3030D4-419F-4CEB-83A3-B87DFD531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5A6B-E75F-4715-95DD-3A950893076C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771666-8E7E-4981-8A4E-17634A3BA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3F4AA95-163F-47D8-93F0-503179D9B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03525-FCB1-452E-9943-8E966A42E9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94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1A5423-86D8-413D-9B6C-CB414A2B9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C642B8-8814-4685-92F2-875324E20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6907FA1-5E14-4C87-82AD-99658C252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8ABAEEC-2E42-4F06-814E-72D3C46B71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6E19B7E-0C32-4AAC-AB9B-3510048589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0CDE6AF-7174-42AE-9EC5-034F5EB47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5A6B-E75F-4715-95DD-3A950893076C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2493BDD-0861-4484-B824-E7B459B4E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657B6F8-E3C2-4F8E-849F-07DCDF59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03525-FCB1-452E-9943-8E966A42E9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471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5D5E09-2E62-4900-8216-2FA6D2FD9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09F99DB-BA64-4368-9DC1-2D8DFA28B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5A6B-E75F-4715-95DD-3A950893076C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0530333-C6C0-4446-B473-EC102FDD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381C7DE-70A1-4DBF-A8AE-0F6E2E196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03525-FCB1-452E-9943-8E966A42E9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1880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A3BAAF8-4EF6-47B3-91C6-488F3493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5A6B-E75F-4715-95DD-3A950893076C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CBB6EEC-DF54-408C-ADB5-E5697F008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18D0AF-D0CD-4B41-91F6-E68CAF10D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03525-FCB1-452E-9943-8E966A42E9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2588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B336DD-4271-4C54-9658-9359698C9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E384FA-929F-4965-94B1-7ABBCECD8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EC84BFE-F07C-4EFA-BBC6-CB63B57D2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EE66AA-162E-4609-856A-817F52B18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5A6B-E75F-4715-95DD-3A950893076C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F730C4C-B6B1-4CE5-B2D4-5B1CC5F96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ABE2713-ACDD-4E73-852C-8ED4C9630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03525-FCB1-452E-9943-8E966A42E9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9602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A1CA10-AED6-4A45-8BD0-B5EB3228D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5DF745E-502F-47B9-B543-0A2F8ADB56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287147-8C76-48BB-8D92-D0523D1D7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DAB570F-ABD0-4155-9855-D5A27B162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5A6B-E75F-4715-95DD-3A950893076C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9E284EB-3B5C-4DC0-97A9-7BE7D4212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A97C88-3B82-4B69-910A-A9700FC4F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03525-FCB1-452E-9943-8E966A42E9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669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24870E-A75E-45B8-A160-15D281F69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8B399F7-6B4D-4B61-9ED0-DD86299C4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1124A8-572A-4086-BD49-BDC12F1C0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5A6B-E75F-4715-95DD-3A950893076C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88C09A-247A-4994-92F4-9612C1026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6D0AF7-1FB6-4A25-8C0B-426820582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03525-FCB1-452E-9943-8E966A42E9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5770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5C5825-1EF7-4250-9489-0E3E2DB49D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ED22C5-1C7F-4215-90D5-1D9438AFF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05907F-EB3F-4ECF-AD74-5A1B78717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5A6B-E75F-4715-95DD-3A950893076C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A7F224-1369-46A0-8FBF-B18E188AB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7199D4-E6C8-4E0D-ADA1-0C40D23C3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03525-FCB1-452E-9943-8E966A42E9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682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F324BF-BCA5-43FC-A9DF-5F198E090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39A1DC3-18FC-4FBD-B2C0-29E2D13EE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054BCB-C968-4E4C-B8B9-48C954664D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B5A6B-E75F-4715-95DD-3A950893076C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A0F574-1F89-4B5C-8692-921E753CA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290F32-5B92-4A44-9FD5-B3FCE99D4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03525-FCB1-452E-9943-8E966A42E9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582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9BAE80-5B80-46B2-A05B-CE78EB2F4B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Итоги работы сосудистой неврологической службы за 2025 год. </a:t>
            </a:r>
            <a:br>
              <a:rPr lang="ru-RU" sz="3200" dirty="0"/>
            </a:br>
            <a:r>
              <a:rPr lang="ru-RU" sz="3200" dirty="0"/>
              <a:t>Меры снижения летальности от острых нарушений мозгового кровообращения. Способы достижения целевых показателей региональной программы по борьбе с сердечно-сосудистыми заболеваниями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BE8389-111C-4211-AC3D-EEED87D2F0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Гапоненко Иван Александрович</a:t>
            </a:r>
          </a:p>
          <a:p>
            <a:endParaRPr lang="ru-RU" dirty="0"/>
          </a:p>
          <a:p>
            <a:r>
              <a:rPr lang="ru-RU" dirty="0"/>
              <a:t>Главный внештатный специалист невролог МЗ Омской области</a:t>
            </a:r>
          </a:p>
          <a:p>
            <a:r>
              <a:rPr lang="ru-RU" dirty="0"/>
              <a:t>Заведующий неврологическим отделением для больных с ОНМК (ПСО) </a:t>
            </a:r>
          </a:p>
          <a:p>
            <a:r>
              <a:rPr lang="ru-RU" dirty="0"/>
              <a:t>БУЗОО «Клинический кардиологический диспансер» 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485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743DCE-80B7-4D9A-A62A-9BCC7F42F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Инсульт в цифрах. Омская область.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A6E321-7577-4FF5-A6FE-CA01206EF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7 000 пациентов ежегодно с ОНМК</a:t>
            </a:r>
          </a:p>
          <a:p>
            <a:r>
              <a:rPr lang="ru-RU" dirty="0"/>
              <a:t>Около 85% это ишемические инсульты, 15% геморрагические.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6964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1CBDEE-04ED-4A5A-94C4-57590CDF3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Общая картина летальности.</a:t>
            </a:r>
          </a:p>
        </p:txBody>
      </p:sp>
      <p:graphicFrame>
        <p:nvGraphicFramePr>
          <p:cNvPr id="14" name="Объект 13">
            <a:extLst>
              <a:ext uri="{FF2B5EF4-FFF2-40B4-BE49-F238E27FC236}">
                <a16:creationId xmlns:a16="http://schemas.microsoft.com/office/drawing/2014/main" id="{11C67E13-49FF-40F7-8969-191184BAF0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570871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98090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97001B-15C7-4B6C-B241-6E936A154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Декомпозиция показателя летальности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6E3F84E5-A5B4-4287-B233-8E2C51CD56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412543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56825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3784A-7CD3-48CA-898E-B632B6AFD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Высокая летальность от геморрагического инсульта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256535-95AA-45C7-8475-880545E0F9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Проблема:</a:t>
            </a:r>
          </a:p>
          <a:p>
            <a:r>
              <a:rPr lang="ru-RU" dirty="0"/>
              <a:t>Высокая летальность от геморрагического инсульта</a:t>
            </a:r>
          </a:p>
          <a:p>
            <a:r>
              <a:rPr lang="ru-RU" dirty="0"/>
              <a:t>Невыполнение порядков и КР в части временного показателя консультации нейрохирурга и определении показаний к переводу =</a:t>
            </a:r>
            <a:r>
              <a:rPr lang="en-US" dirty="0"/>
              <a:t>&gt; </a:t>
            </a:r>
            <a:r>
              <a:rPr lang="ru-RU" dirty="0"/>
              <a:t>ухудшение состояния и </a:t>
            </a:r>
            <a:r>
              <a:rPr lang="ru-RU" dirty="0" err="1"/>
              <a:t>инкурабельность</a:t>
            </a:r>
            <a:r>
              <a:rPr lang="ru-RU" dirty="0"/>
              <a:t>.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8F38F9AA-7DEA-42C1-9069-FAC2BDD2C5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Решение:</a:t>
            </a:r>
          </a:p>
          <a:p>
            <a:r>
              <a:rPr lang="ru-RU" dirty="0"/>
              <a:t>Внедрение «жесткого» междисциплинарного регламента для пациентов с геморрагическим инсультом с применением ТМК.</a:t>
            </a:r>
          </a:p>
          <a:p>
            <a:r>
              <a:rPr lang="ru-RU" dirty="0"/>
              <a:t>Решение о переводе или операции должно приниматься дистанционно по снимкам в ЦАМИ в течение 60 минут.</a:t>
            </a:r>
          </a:p>
          <a:p>
            <a:r>
              <a:rPr lang="ru-RU" dirty="0"/>
              <a:t>Отказ в операции должен быть мотивирован строго по клиническим протоколам, а не организационными причинами.</a:t>
            </a:r>
          </a:p>
        </p:txBody>
      </p:sp>
    </p:spTree>
    <p:extLst>
      <p:ext uri="{BB962C8B-B14F-4D97-AF65-F5344CB8AC3E}">
        <p14:creationId xmlns:p14="http://schemas.microsoft.com/office/powerpoint/2010/main" val="1712452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91A19B-CD67-480F-A870-A732C9C25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Успешный опыт проведения тестовой ТМК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356DC2-4D8D-4939-9EF5-130357E865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29.01.2026 г. БУЗОО «Клинический кардиологический диспансер» совместно с БУЗОО «Городская клиническая больница скорой медицинской помощи № 1» произведена тестовая ТМК с применением видеосвязи с передачей сигнала по защищенному каналу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8B53BE-7219-4706-8A43-5BD319C90D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30.01.2026 г. в МЗОО направлено письмо с информацией об успешном применении технологии и предложением о её внедрении в практику и тиражировании.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3041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B820AE-C274-4451-9705-09C5DA266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Неравномерность качества помощи.</a:t>
            </a: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7110BB19-5310-4CF6-BF61-580B7AB0BE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3052681"/>
              </p:ext>
            </p:extLst>
          </p:nvPr>
        </p:nvGraphicFramePr>
        <p:xfrm>
          <a:off x="1137673" y="1792751"/>
          <a:ext cx="9943282" cy="3272497"/>
        </p:xfrm>
        <a:graphic>
          <a:graphicData uri="http://schemas.openxmlformats.org/drawingml/2006/table">
            <a:tbl>
              <a:tblPr/>
              <a:tblGrid>
                <a:gridCol w="4245163">
                  <a:extLst>
                    <a:ext uri="{9D8B030D-6E8A-4147-A177-3AD203B41FA5}">
                      <a16:colId xmlns:a16="http://schemas.microsoft.com/office/drawing/2014/main" val="1532929198"/>
                    </a:ext>
                  </a:extLst>
                </a:gridCol>
                <a:gridCol w="2276617">
                  <a:extLst>
                    <a:ext uri="{9D8B030D-6E8A-4147-A177-3AD203B41FA5}">
                      <a16:colId xmlns:a16="http://schemas.microsoft.com/office/drawing/2014/main" val="1627396196"/>
                    </a:ext>
                  </a:extLst>
                </a:gridCol>
                <a:gridCol w="1658113">
                  <a:extLst>
                    <a:ext uri="{9D8B030D-6E8A-4147-A177-3AD203B41FA5}">
                      <a16:colId xmlns:a16="http://schemas.microsoft.com/office/drawing/2014/main" val="645114193"/>
                    </a:ext>
                  </a:extLst>
                </a:gridCol>
                <a:gridCol w="1763389">
                  <a:extLst>
                    <a:ext uri="{9D8B030D-6E8A-4147-A177-3AD203B41FA5}">
                      <a16:colId xmlns:a16="http://schemas.microsoft.com/office/drawing/2014/main" val="3626609047"/>
                    </a:ext>
                  </a:extLst>
                </a:gridCol>
              </a:tblGrid>
              <a:tr h="556182">
                <a:tc rowSpan="2"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МО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Больничная летальность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1744219"/>
                  </a:ext>
                </a:extLst>
              </a:tr>
              <a:tr h="30165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от ОНМК, 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от ИИ, 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от ГИ, 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6771261"/>
                  </a:ext>
                </a:extLst>
              </a:tr>
              <a:tr h="344951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БУЗОО "ККД"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11,30%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9,20%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28,80%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4581006"/>
                  </a:ext>
                </a:extLst>
              </a:tr>
              <a:tr h="344951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БУЗОО "БСМП №1"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14,90%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11,00%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40,20%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194912"/>
                  </a:ext>
                </a:extLst>
              </a:tr>
              <a:tr h="344951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БУЗОО "ОКБ"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16,10%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14,70%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32,10%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8507749"/>
                  </a:ext>
                </a:extLst>
              </a:tr>
              <a:tr h="344951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БУЗОО "МСЧ №4"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17,10%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14,30%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37,80%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389783"/>
                  </a:ext>
                </a:extLst>
              </a:tr>
              <a:tr h="344951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БУЗОО "МСЧ №9"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14,30%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14,50%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27,00%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6066263"/>
                  </a:ext>
                </a:extLst>
              </a:tr>
              <a:tr h="344951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БУЗОО "Тарская ЦРБ"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9C0006"/>
                          </a:solidFill>
                          <a:effectLst/>
                          <a:latin typeface="Times New Roman" panose="02020603050405020304" pitchFamily="18" charset="0"/>
                        </a:rPr>
                        <a:t>23,50%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18,50%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44,60%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246561"/>
                  </a:ext>
                </a:extLst>
              </a:tr>
              <a:tr h="344951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Целевой уровень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17,20%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9034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1377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EF6C03F-5540-46ED-8CFD-E20170CBD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Реперфузионные методики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F3D78688-7667-4FE8-81F4-264FBD54B7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Тромболизис</a:t>
            </a:r>
          </a:p>
          <a:p>
            <a:r>
              <a:rPr lang="ru-RU" dirty="0"/>
              <a:t>Целевой показатель: 10%</a:t>
            </a:r>
          </a:p>
          <a:p>
            <a:r>
              <a:rPr lang="ru-RU" dirty="0">
                <a:solidFill>
                  <a:srgbClr val="FF0000"/>
                </a:solidFill>
              </a:rPr>
              <a:t>Факт: 8,35%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D7A86D-D482-4336-9104-5FD74E9D2BE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/>
              <a:t>Тромбэкстракция</a:t>
            </a:r>
            <a:endParaRPr lang="ru-RU" dirty="0"/>
          </a:p>
          <a:p>
            <a:r>
              <a:rPr lang="ru-RU" dirty="0"/>
              <a:t>Целевой показатель: 2,0%</a:t>
            </a:r>
          </a:p>
          <a:p>
            <a:r>
              <a:rPr lang="ru-RU" dirty="0"/>
              <a:t>Федеральный ориентир: 2,6%</a:t>
            </a:r>
          </a:p>
          <a:p>
            <a:r>
              <a:rPr lang="ru-RU" dirty="0">
                <a:solidFill>
                  <a:schemeClr val="accent6"/>
                </a:solidFill>
              </a:rPr>
              <a:t>Факт: 2,9%</a:t>
            </a:r>
          </a:p>
          <a:p>
            <a:pPr marL="0" indent="0">
              <a:buNone/>
            </a:pPr>
            <a:r>
              <a:rPr lang="ru-RU" sz="2400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Лидерами внедрения этой технологии стали </a:t>
            </a:r>
          </a:p>
          <a:p>
            <a:pPr marL="0" indent="0">
              <a:buNone/>
            </a:pPr>
            <a:r>
              <a:rPr lang="ru-RU" sz="2400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БУЗОО «МСЧ № 4» (доля ТЭ 5,0%), БУЗОО «ГК БСМП № 1» (3,6%) и БУЗОО «ККД» (3,1%).</a:t>
            </a:r>
            <a:endParaRPr lang="ru-RU" sz="3600" dirty="0">
              <a:solidFill>
                <a:schemeClr val="accent6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5696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3784A-7CD3-48CA-898E-B632B6AFD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Реперфузия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256535-95AA-45C7-8475-880545E0F9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177541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Проблема:</a:t>
            </a:r>
          </a:p>
          <a:p>
            <a:r>
              <a:rPr lang="ru-RU" dirty="0"/>
              <a:t>Позднее обращение за медицинской помощью</a:t>
            </a:r>
          </a:p>
          <a:p>
            <a:pPr lvl="1"/>
            <a:r>
              <a:rPr lang="ru-RU" dirty="0">
                <a:solidFill>
                  <a:srgbClr val="FF0000"/>
                </a:solidFill>
              </a:rPr>
              <a:t>Низкая медицинская грамотность населения</a:t>
            </a:r>
          </a:p>
          <a:p>
            <a:pPr lvl="1"/>
            <a:r>
              <a:rPr lang="ru-RU" dirty="0">
                <a:solidFill>
                  <a:schemeClr val="accent4"/>
                </a:solidFill>
              </a:rPr>
              <a:t>Логистические задержки</a:t>
            </a:r>
          </a:p>
          <a:p>
            <a:pPr lvl="1"/>
            <a:r>
              <a:rPr lang="ru-RU" dirty="0">
                <a:solidFill>
                  <a:schemeClr val="accent6"/>
                </a:solidFill>
              </a:rPr>
              <a:t>Внутрибольничные задержки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8F38F9AA-7DEA-42C1-9069-FAC2BDD2C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40924" y="1825625"/>
            <a:ext cx="5938886" cy="48014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/>
              <a:t>Решение:</a:t>
            </a:r>
          </a:p>
          <a:p>
            <a:r>
              <a:rPr lang="ru-RU" sz="1800" dirty="0"/>
              <a:t>Цикл образовательных мероприятий от волонтеров-медиков на предприятиях города</a:t>
            </a:r>
          </a:p>
          <a:p>
            <a:r>
              <a:rPr lang="ru-RU" sz="1800" dirty="0"/>
              <a:t>Рекламные баннеры в местах скопления людей</a:t>
            </a:r>
          </a:p>
          <a:p>
            <a:r>
              <a:rPr lang="ru-RU" sz="1800" dirty="0"/>
              <a:t>Наружная реклама на общественном транспорте </a:t>
            </a:r>
          </a:p>
          <a:p>
            <a:r>
              <a:rPr lang="ru-RU" sz="1800" dirty="0"/>
              <a:t>Информационные ролики в остановочных пунктах, в общественном транспорте, в поликлиниках и государственных учреждениях</a:t>
            </a:r>
          </a:p>
          <a:p>
            <a:r>
              <a:rPr lang="ru-RU" sz="1800" dirty="0"/>
              <a:t>Реклама перед матчами на «Арена-Омск» и перед другими общественными мероприятиями</a:t>
            </a:r>
          </a:p>
          <a:p>
            <a:r>
              <a:rPr lang="ru-RU" sz="1800" dirty="0"/>
              <a:t>Плакаты «УДАР». Масштабирование и размещение уже разработанных наглядных материалов (плакаты «УДАР»), адаптированных для быстрого запоминания населением первых признаков инсульта. Данные материалы изготовлены, но до сих пор не реализованы в городской среде.</a:t>
            </a:r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07D8D8FD-03EC-451F-B341-1437DD83C2D5}"/>
              </a:ext>
            </a:extLst>
          </p:cNvPr>
          <p:cNvSpPr txBox="1">
            <a:spLocks/>
          </p:cNvSpPr>
          <p:nvPr/>
        </p:nvSpPr>
        <p:spPr>
          <a:xfrm>
            <a:off x="559324" y="3429000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Целевые значения: 35%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Фактический показатель: </a:t>
            </a:r>
            <a:r>
              <a:rPr lang="ru-RU" dirty="0">
                <a:solidFill>
                  <a:srgbClr val="FF0000"/>
                </a:solidFill>
              </a:rPr>
              <a:t>23,95%</a:t>
            </a:r>
          </a:p>
        </p:txBody>
      </p:sp>
      <p:graphicFrame>
        <p:nvGraphicFramePr>
          <p:cNvPr id="3" name="Таблица 6">
            <a:extLst>
              <a:ext uri="{FF2B5EF4-FFF2-40B4-BE49-F238E27FC236}">
                <a16:creationId xmlns:a16="http://schemas.microsoft.com/office/drawing/2014/main" id="{840805C0-EB0D-4051-8145-A4AC52940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769134"/>
              </p:ext>
            </p:extLst>
          </p:nvPr>
        </p:nvGraphicFramePr>
        <p:xfrm>
          <a:off x="838200" y="4710303"/>
          <a:ext cx="4506798" cy="807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66">
                  <a:extLst>
                    <a:ext uri="{9D8B030D-6E8A-4147-A177-3AD203B41FA5}">
                      <a16:colId xmlns:a16="http://schemas.microsoft.com/office/drawing/2014/main" val="2792447668"/>
                    </a:ext>
                  </a:extLst>
                </a:gridCol>
                <a:gridCol w="1502266">
                  <a:extLst>
                    <a:ext uri="{9D8B030D-6E8A-4147-A177-3AD203B41FA5}">
                      <a16:colId xmlns:a16="http://schemas.microsoft.com/office/drawing/2014/main" val="1125470926"/>
                    </a:ext>
                  </a:extLst>
                </a:gridCol>
                <a:gridCol w="1502266">
                  <a:extLst>
                    <a:ext uri="{9D8B030D-6E8A-4147-A177-3AD203B41FA5}">
                      <a16:colId xmlns:a16="http://schemas.microsoft.com/office/drawing/2014/main" val="3848177057"/>
                    </a:ext>
                  </a:extLst>
                </a:gridCol>
              </a:tblGrid>
              <a:tr h="403738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5164639"/>
                  </a:ext>
                </a:extLst>
              </a:tr>
              <a:tr h="403738">
                <a:tc>
                  <a:txBody>
                    <a:bodyPr/>
                    <a:lstStyle/>
                    <a:p>
                      <a:r>
                        <a:rPr lang="ru-RU" dirty="0"/>
                        <a:t>25,08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24,65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23,95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443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8453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E46518-A227-43DC-974C-136B85535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Проведенные мероприятия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8B210D-5ED1-4FAA-AEBC-8CEA9F39CD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Взаимодействие со СМИ</a:t>
            </a:r>
          </a:p>
          <a:p>
            <a:pPr lvl="1"/>
            <a:r>
              <a:rPr lang="ru-RU" dirty="0"/>
              <a:t>Подготовлены печатные материалы</a:t>
            </a:r>
          </a:p>
          <a:p>
            <a:pPr lvl="1"/>
            <a:r>
              <a:rPr lang="ru-RU" dirty="0"/>
              <a:t>Выступления на радио</a:t>
            </a:r>
          </a:p>
          <a:p>
            <a:pPr lvl="1"/>
            <a:r>
              <a:rPr lang="ru-RU" dirty="0"/>
              <a:t>Участие в пресс-конференции</a:t>
            </a:r>
          </a:p>
          <a:p>
            <a:r>
              <a:rPr lang="ru-RU" dirty="0"/>
              <a:t>Выступления перед врачебным сообществом с докладами о:</a:t>
            </a:r>
          </a:p>
          <a:p>
            <a:pPr lvl="1"/>
            <a:r>
              <a:rPr lang="ru-RU" dirty="0"/>
              <a:t>проявлениях ОНМК</a:t>
            </a:r>
          </a:p>
          <a:p>
            <a:pPr lvl="1"/>
            <a:r>
              <a:rPr lang="ru-RU" dirty="0"/>
              <a:t>Новых методах лечения</a:t>
            </a:r>
          </a:p>
          <a:p>
            <a:pPr lvl="1"/>
            <a:r>
              <a:rPr lang="ru-RU" dirty="0"/>
              <a:t>Методах выхода за пределы «стандартного» терапевтического окна</a:t>
            </a:r>
          </a:p>
          <a:p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E80D47E-749F-45FA-BBD9-F7EA694525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286913"/>
            <a:ext cx="5181600" cy="3428761"/>
          </a:xfrm>
        </p:spPr>
      </p:pic>
    </p:spTree>
    <p:extLst>
      <p:ext uri="{BB962C8B-B14F-4D97-AF65-F5344CB8AC3E}">
        <p14:creationId xmlns:p14="http://schemas.microsoft.com/office/powerpoint/2010/main" val="4161143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666E9E-AC14-4603-91C3-71B71248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Плакаты «УДАР»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C2B30FDA-51B1-40CD-97FD-EBA057CE18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23332" y="1825625"/>
            <a:ext cx="3089025" cy="4351338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E876C240-7E1F-40F8-9DF6-4686CA16E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80808" y="1825625"/>
            <a:ext cx="3472992" cy="4351338"/>
          </a:xfrm>
        </p:spPr>
        <p:txBody>
          <a:bodyPr>
            <a:normAutofit/>
          </a:bodyPr>
          <a:lstStyle/>
          <a:p>
            <a:r>
              <a:rPr lang="ru-RU" dirty="0"/>
              <a:t>Совместно с частной компанией мы разработали и  изготовили 80 информационных плакатов формата А0 для размещения на автомобилях СМП Омской области.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55970E36-270A-4FFA-8554-E35901C798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70" t="11745" b="15283"/>
          <a:stretch/>
        </p:blipFill>
        <p:spPr bwMode="auto">
          <a:xfrm>
            <a:off x="3512357" y="4109830"/>
            <a:ext cx="4368451" cy="204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3D0F0A21-74BE-4D73-9E7E-B5B30334E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2357" y="1780811"/>
            <a:ext cx="4368451" cy="2293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1431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3784A-7CD3-48CA-898E-B632B6AFD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Реперфузия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256535-95AA-45C7-8475-880545E0F9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Проблема:</a:t>
            </a:r>
          </a:p>
          <a:p>
            <a:r>
              <a:rPr lang="ru-RU" dirty="0"/>
              <a:t>Необоснованные задержки пациента с ОНМК в «промежуточных» стационарах.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64478E1-1846-4C86-880E-33EB91739F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811495"/>
            <a:ext cx="5181600" cy="1953096"/>
          </a:xfrm>
        </p:spPr>
      </p:pic>
    </p:spTree>
    <p:extLst>
      <p:ext uri="{BB962C8B-B14F-4D97-AF65-F5344CB8AC3E}">
        <p14:creationId xmlns:p14="http://schemas.microsoft.com/office/powerpoint/2010/main" val="2382863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B7734F-8A81-4538-99D5-1C10A5809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сделано.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354C16-760D-4101-91A6-C824BE073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25.12.2025 выпущено распоряжение, включающее критерии </a:t>
            </a:r>
            <a:r>
              <a:rPr lang="ru-RU" dirty="0" err="1"/>
              <a:t>нетранспортабельности</a:t>
            </a:r>
            <a:r>
              <a:rPr lang="ru-RU" dirty="0"/>
              <a:t> пациентов.</a:t>
            </a:r>
          </a:p>
          <a:p>
            <a:r>
              <a:rPr lang="ru-RU" dirty="0"/>
              <a:t>В январе выявлены различия в трактовании положений приказа, что явилось причиной оставления пациентов на месте в районах Омской области.</a:t>
            </a:r>
          </a:p>
          <a:p>
            <a:r>
              <a:rPr lang="ru-RU" dirty="0"/>
              <a:t>16.02.2026 г. БУЗОО «ККД» инициировано совещание ответственных специалистов под председательством Ю.А. Мартынова, где были разрешены разногласия и приняты новые критерии.</a:t>
            </a:r>
          </a:p>
        </p:txBody>
      </p:sp>
    </p:spTree>
    <p:extLst>
      <p:ext uri="{BB962C8B-B14F-4D97-AF65-F5344CB8AC3E}">
        <p14:creationId xmlns:p14="http://schemas.microsoft.com/office/powerpoint/2010/main" val="2848913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3784A-7CD3-48CA-898E-B632B6AFD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Реперфузия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256535-95AA-45C7-8475-880545E0F9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Проблема:</a:t>
            </a:r>
          </a:p>
          <a:p>
            <a:r>
              <a:rPr lang="ru-RU" dirty="0"/>
              <a:t>Необоснованные задержки пациента с ОНМК в «промежуточных» стационарах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8F38F9AA-7DEA-42C1-9069-FAC2BDD2C5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Решение:</a:t>
            </a:r>
          </a:p>
          <a:p>
            <a:r>
              <a:rPr lang="ru-RU" dirty="0"/>
              <a:t>Внедрение в работу новых согласованных критериев </a:t>
            </a:r>
            <a:r>
              <a:rPr lang="ru-RU" dirty="0" err="1"/>
              <a:t>нетранспортабельности</a:t>
            </a:r>
            <a:r>
              <a:rPr lang="ru-RU" dirty="0"/>
              <a:t> пациентов, как единственного обоснования оставления пациента на месте при обращении за медицинской помощью пациентов с временем от старта заболевания до 24 часов.</a:t>
            </a:r>
          </a:p>
        </p:txBody>
      </p:sp>
    </p:spTree>
    <p:extLst>
      <p:ext uri="{BB962C8B-B14F-4D97-AF65-F5344CB8AC3E}">
        <p14:creationId xmlns:p14="http://schemas.microsoft.com/office/powerpoint/2010/main" val="3366161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C1728E-AA36-4595-AC6D-F255BB599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Ежедневные ВКС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02ED4A76-E951-4674-B9F1-50F987B655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 целью контроля маршрутизации и применения </a:t>
            </a:r>
            <a:r>
              <a:rPr lang="ru-RU" dirty="0" err="1"/>
              <a:t>реперфузионных</a:t>
            </a:r>
            <a:r>
              <a:rPr lang="ru-RU" dirty="0"/>
              <a:t> методов лечения в ежедневном режиме проводятся совещания в режиме ВКС</a:t>
            </a:r>
          </a:p>
        </p:txBody>
      </p:sp>
      <p:pic>
        <p:nvPicPr>
          <p:cNvPr id="10" name="Рисунок 2">
            <a:extLst>
              <a:ext uri="{FF2B5EF4-FFF2-40B4-BE49-F238E27FC236}">
                <a16:creationId xmlns:a16="http://schemas.microsoft.com/office/drawing/2014/main" id="{D18718DA-1670-458A-BFCF-039628A2E98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2" y="2092751"/>
            <a:ext cx="5542949" cy="3125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3157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3784A-7CD3-48CA-898E-B632B6AFD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Реперфузия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256535-95AA-45C7-8475-880545E0F9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Проблема:</a:t>
            </a:r>
          </a:p>
          <a:p>
            <a:r>
              <a:rPr lang="ru-RU" dirty="0"/>
              <a:t>Неиспользование резерва пациентов с неизвестным временем начала заболевания, стартом до 12 часов и «инсульта во сне»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8F38F9AA-7DEA-42C1-9069-FAC2BDD2C5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Решение:</a:t>
            </a:r>
          </a:p>
          <a:p>
            <a:r>
              <a:rPr lang="ru-RU" dirty="0"/>
              <a:t>Рутинное выполнение МРТ и КТ-</a:t>
            </a:r>
            <a:r>
              <a:rPr lang="ru-RU" dirty="0" err="1"/>
              <a:t>перфузионных</a:t>
            </a:r>
            <a:r>
              <a:rPr lang="ru-RU" dirty="0"/>
              <a:t> методов диагностики (требуется до-оснащение МО)</a:t>
            </a:r>
          </a:p>
          <a:p>
            <a:r>
              <a:rPr lang="ru-RU" dirty="0"/>
              <a:t>Передача на «</a:t>
            </a:r>
            <a:r>
              <a:rPr lang="ru-RU" dirty="0" err="1"/>
              <a:t>аутсорс</a:t>
            </a:r>
            <a:r>
              <a:rPr lang="ru-RU" dirty="0"/>
              <a:t>» описания исследований, выполненных в «нерабочее» время основной рентгенологической службы.</a:t>
            </a:r>
          </a:p>
        </p:txBody>
      </p:sp>
    </p:spTree>
    <p:extLst>
      <p:ext uri="{BB962C8B-B14F-4D97-AF65-F5344CB8AC3E}">
        <p14:creationId xmlns:p14="http://schemas.microsoft.com/office/powerpoint/2010/main" val="504841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48AFB5-01E5-4ECB-A74B-5337F3C25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«Аппаратные» возможности</a:t>
            </a: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787BB84B-D5D3-476B-9F16-790F917A6B6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93832700"/>
              </p:ext>
            </p:extLst>
          </p:nvPr>
        </p:nvGraphicFramePr>
        <p:xfrm>
          <a:off x="838199" y="1825625"/>
          <a:ext cx="10825902" cy="454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2878">
                  <a:extLst>
                    <a:ext uri="{9D8B030D-6E8A-4147-A177-3AD203B41FA5}">
                      <a16:colId xmlns:a16="http://schemas.microsoft.com/office/drawing/2014/main" val="1327907104"/>
                    </a:ext>
                  </a:extLst>
                </a:gridCol>
                <a:gridCol w="1202878">
                  <a:extLst>
                    <a:ext uri="{9D8B030D-6E8A-4147-A177-3AD203B41FA5}">
                      <a16:colId xmlns:a16="http://schemas.microsoft.com/office/drawing/2014/main" val="1615213564"/>
                    </a:ext>
                  </a:extLst>
                </a:gridCol>
                <a:gridCol w="1202878">
                  <a:extLst>
                    <a:ext uri="{9D8B030D-6E8A-4147-A177-3AD203B41FA5}">
                      <a16:colId xmlns:a16="http://schemas.microsoft.com/office/drawing/2014/main" val="1254295801"/>
                    </a:ext>
                  </a:extLst>
                </a:gridCol>
                <a:gridCol w="1202878">
                  <a:extLst>
                    <a:ext uri="{9D8B030D-6E8A-4147-A177-3AD203B41FA5}">
                      <a16:colId xmlns:a16="http://schemas.microsoft.com/office/drawing/2014/main" val="1374567705"/>
                    </a:ext>
                  </a:extLst>
                </a:gridCol>
                <a:gridCol w="1202878">
                  <a:extLst>
                    <a:ext uri="{9D8B030D-6E8A-4147-A177-3AD203B41FA5}">
                      <a16:colId xmlns:a16="http://schemas.microsoft.com/office/drawing/2014/main" val="3326723317"/>
                    </a:ext>
                  </a:extLst>
                </a:gridCol>
                <a:gridCol w="1202878">
                  <a:extLst>
                    <a:ext uri="{9D8B030D-6E8A-4147-A177-3AD203B41FA5}">
                      <a16:colId xmlns:a16="http://schemas.microsoft.com/office/drawing/2014/main" val="3585261496"/>
                    </a:ext>
                  </a:extLst>
                </a:gridCol>
                <a:gridCol w="1202878">
                  <a:extLst>
                    <a:ext uri="{9D8B030D-6E8A-4147-A177-3AD203B41FA5}">
                      <a16:colId xmlns:a16="http://schemas.microsoft.com/office/drawing/2014/main" val="750032878"/>
                    </a:ext>
                  </a:extLst>
                </a:gridCol>
                <a:gridCol w="1202878">
                  <a:extLst>
                    <a:ext uri="{9D8B030D-6E8A-4147-A177-3AD203B41FA5}">
                      <a16:colId xmlns:a16="http://schemas.microsoft.com/office/drawing/2014/main" val="573503240"/>
                    </a:ext>
                  </a:extLst>
                </a:gridCol>
                <a:gridCol w="1202878">
                  <a:extLst>
                    <a:ext uri="{9D8B030D-6E8A-4147-A177-3AD203B41FA5}">
                      <a16:colId xmlns:a16="http://schemas.microsoft.com/office/drawing/2014/main" val="33677164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ГКБСМП №1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ОКБ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ККД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МСЧ №4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КМСЧ №9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Тарская ЦРБ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Калачинская ЦРБ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Исилькульская ЦРБ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147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4915683"/>
                  </a:ext>
                </a:extLst>
              </a:tr>
              <a:tr h="455662">
                <a:tc>
                  <a:txBody>
                    <a:bodyPr/>
                    <a:lstStyle/>
                    <a:p>
                      <a:r>
                        <a:rPr lang="ru-RU" dirty="0"/>
                        <a:t>КТ-перфузия (день)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-*</a:t>
                      </a:r>
                    </a:p>
                    <a:p>
                      <a:pPr algn="ctr"/>
                      <a:r>
                        <a:rPr lang="ru-RU" sz="1600" dirty="0"/>
                        <a:t>нет ПО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-*</a:t>
                      </a:r>
                    </a:p>
                    <a:p>
                      <a:pPr marL="0" algn="ctr" defTabSz="914400" rtl="0" eaLnBrk="1" latinLnBrk="0" hangingPunct="1"/>
                      <a:r>
                        <a:rPr lang="ru-R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нет ПО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4144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КТ-перфузия</a:t>
                      </a:r>
                    </a:p>
                    <a:p>
                      <a:r>
                        <a:rPr lang="ru-RU" dirty="0"/>
                        <a:t>(ночь)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-*</a:t>
                      </a:r>
                    </a:p>
                    <a:p>
                      <a:pPr marL="0" algn="ctr" defTabSz="914400" rtl="0" eaLnBrk="1" latinLnBrk="0" hangingPunct="1"/>
                      <a:r>
                        <a:rPr lang="ru-R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нет ПО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-*</a:t>
                      </a:r>
                    </a:p>
                    <a:p>
                      <a:pPr marL="0" algn="ctr" defTabSz="914400" rtl="0" eaLnBrk="1" latinLnBrk="0" hangingPunct="1"/>
                      <a:r>
                        <a:rPr lang="ru-R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нет ПО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8377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МРТ (день)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+/-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4921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МРТ</a:t>
                      </a:r>
                    </a:p>
                    <a:p>
                      <a:r>
                        <a:rPr lang="ru-RU" dirty="0"/>
                        <a:t>(ночь)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3775913"/>
                  </a:ext>
                </a:extLst>
              </a:tr>
            </a:tbl>
          </a:graphicData>
        </a:graphic>
      </p:graphicFrame>
      <p:sp>
        <p:nvSpPr>
          <p:cNvPr id="4" name="Объект 3">
            <a:extLst>
              <a:ext uri="{FF2B5EF4-FFF2-40B4-BE49-F238E27FC236}">
                <a16:creationId xmlns:a16="http://schemas.microsoft.com/office/drawing/2014/main" id="{E66A73E8-B232-4F25-9C97-E9844E912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7901" y="6354762"/>
            <a:ext cx="10825899" cy="794257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4003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B820AE-C274-4451-9705-09C5DA266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Неравномерность качества помощи.</a:t>
            </a: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7110BB19-5310-4CF6-BF61-580B7AB0BE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7383367"/>
              </p:ext>
            </p:extLst>
          </p:nvPr>
        </p:nvGraphicFramePr>
        <p:xfrm>
          <a:off x="596899" y="1527142"/>
          <a:ext cx="10969789" cy="3272497"/>
        </p:xfrm>
        <a:graphic>
          <a:graphicData uri="http://schemas.openxmlformats.org/drawingml/2006/table">
            <a:tbl>
              <a:tblPr/>
              <a:tblGrid>
                <a:gridCol w="3040992">
                  <a:extLst>
                    <a:ext uri="{9D8B030D-6E8A-4147-A177-3AD203B41FA5}">
                      <a16:colId xmlns:a16="http://schemas.microsoft.com/office/drawing/2014/main" val="1532929198"/>
                    </a:ext>
                  </a:extLst>
                </a:gridCol>
                <a:gridCol w="2046472">
                  <a:extLst>
                    <a:ext uri="{9D8B030D-6E8A-4147-A177-3AD203B41FA5}">
                      <a16:colId xmlns:a16="http://schemas.microsoft.com/office/drawing/2014/main" val="1284665783"/>
                    </a:ext>
                  </a:extLst>
                </a:gridCol>
                <a:gridCol w="1800519">
                  <a:extLst>
                    <a:ext uri="{9D8B030D-6E8A-4147-A177-3AD203B41FA5}">
                      <a16:colId xmlns:a16="http://schemas.microsoft.com/office/drawing/2014/main" val="1385988788"/>
                    </a:ext>
                  </a:extLst>
                </a:gridCol>
                <a:gridCol w="1630838">
                  <a:extLst>
                    <a:ext uri="{9D8B030D-6E8A-4147-A177-3AD203B41FA5}">
                      <a16:colId xmlns:a16="http://schemas.microsoft.com/office/drawing/2014/main" val="1627396196"/>
                    </a:ext>
                  </a:extLst>
                </a:gridCol>
                <a:gridCol w="1187777">
                  <a:extLst>
                    <a:ext uri="{9D8B030D-6E8A-4147-A177-3AD203B41FA5}">
                      <a16:colId xmlns:a16="http://schemas.microsoft.com/office/drawing/2014/main" val="645114193"/>
                    </a:ext>
                  </a:extLst>
                </a:gridCol>
                <a:gridCol w="1263191">
                  <a:extLst>
                    <a:ext uri="{9D8B030D-6E8A-4147-A177-3AD203B41FA5}">
                      <a16:colId xmlns:a16="http://schemas.microsoft.com/office/drawing/2014/main" val="3626609047"/>
                    </a:ext>
                  </a:extLst>
                </a:gridCol>
              </a:tblGrid>
              <a:tr h="556182">
                <a:tc rowSpan="2"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МО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Доля пациентов с ИИ, которым выполнена ТЛТ, 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Доля пациентов с ИИ, которым выполнена ТЭ, 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Больничная летальность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1744219"/>
                  </a:ext>
                </a:extLst>
              </a:tr>
              <a:tr h="30165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от ОНМК, 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от ИИ, 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от ГИ, 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6771261"/>
                  </a:ext>
                </a:extLst>
              </a:tr>
              <a:tr h="344951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БУЗОО "ККД"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13,10%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3,10%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11,30%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9,20%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28,80%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4581006"/>
                  </a:ext>
                </a:extLst>
              </a:tr>
              <a:tr h="344951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БУЗОО "БСМП №1"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11,90%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3,60%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14,90%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11,00%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40,20%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194912"/>
                  </a:ext>
                </a:extLst>
              </a:tr>
              <a:tr h="344951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БУЗОО "ОКБ"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 dirty="0">
                          <a:solidFill>
                            <a:srgbClr val="9C0006"/>
                          </a:solidFill>
                          <a:effectLst/>
                          <a:latin typeface="Times New Roman" panose="02020603050405020304" pitchFamily="18" charset="0"/>
                        </a:rPr>
                        <a:t>7,50%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 dirty="0">
                          <a:solidFill>
                            <a:srgbClr val="9C0006"/>
                          </a:solidFill>
                          <a:effectLst/>
                          <a:latin typeface="Times New Roman" panose="02020603050405020304" pitchFamily="18" charset="0"/>
                        </a:rPr>
                        <a:t>1,10%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16,10%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14,70%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32,10%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8507749"/>
                  </a:ext>
                </a:extLst>
              </a:tr>
              <a:tr h="344951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БУЗОО "МСЧ №4"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9C0006"/>
                          </a:solidFill>
                          <a:effectLst/>
                          <a:latin typeface="Times New Roman" panose="02020603050405020304" pitchFamily="18" charset="0"/>
                        </a:rPr>
                        <a:t>5,30%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5,00%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17,10%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14,30%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37,80%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389783"/>
                  </a:ext>
                </a:extLst>
              </a:tr>
              <a:tr h="344951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БУЗОО "МСЧ №9"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9C0006"/>
                          </a:solidFill>
                          <a:effectLst/>
                          <a:latin typeface="Times New Roman" panose="02020603050405020304" pitchFamily="18" charset="0"/>
                        </a:rPr>
                        <a:t>5,10%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2,20%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14,30%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14,50%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27,00%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6066263"/>
                  </a:ext>
                </a:extLst>
              </a:tr>
              <a:tr h="344951"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БУЗОО "Тарская ЦРБ"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9C0006"/>
                          </a:solidFill>
                          <a:effectLst/>
                          <a:latin typeface="Times New Roman" panose="02020603050405020304" pitchFamily="18" charset="0"/>
                        </a:rPr>
                        <a:t>1,50%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9C0006"/>
                          </a:solidFill>
                          <a:effectLst/>
                          <a:latin typeface="Times New Roman" panose="02020603050405020304" pitchFamily="18" charset="0"/>
                        </a:rPr>
                        <a:t>0,00%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9C0006"/>
                          </a:solidFill>
                          <a:effectLst/>
                          <a:latin typeface="Times New Roman" panose="02020603050405020304" pitchFamily="18" charset="0"/>
                        </a:rPr>
                        <a:t>23,50%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18,50%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44,60%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246561"/>
                  </a:ext>
                </a:extLst>
              </a:tr>
              <a:tr h="344951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Целевой уровень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10,00%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2,00%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17,20%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9034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801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1F0176-678B-427F-BAE3-4B8D5C1F7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«номинальных» ПСО 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D53D103D-EEB2-4D5D-9381-B7C28DFD4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48033" y="117835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5" name="Объект 14">
            <a:extLst>
              <a:ext uri="{FF2B5EF4-FFF2-40B4-BE49-F238E27FC236}">
                <a16:creationId xmlns:a16="http://schemas.microsoft.com/office/drawing/2014/main" id="{3B8BF771-545B-4D24-9023-FA011812CF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6167361"/>
              </p:ext>
            </p:extLst>
          </p:nvPr>
        </p:nvGraphicFramePr>
        <p:xfrm>
          <a:off x="813454" y="1419668"/>
          <a:ext cx="10285430" cy="5113020"/>
        </p:xfrm>
        <a:graphic>
          <a:graphicData uri="http://schemas.openxmlformats.org/drawingml/2006/table">
            <a:tbl>
              <a:tblPr/>
              <a:tblGrid>
                <a:gridCol w="2598142">
                  <a:extLst>
                    <a:ext uri="{9D8B030D-6E8A-4147-A177-3AD203B41FA5}">
                      <a16:colId xmlns:a16="http://schemas.microsoft.com/office/drawing/2014/main" val="37751982"/>
                    </a:ext>
                  </a:extLst>
                </a:gridCol>
                <a:gridCol w="2544572">
                  <a:extLst>
                    <a:ext uri="{9D8B030D-6E8A-4147-A177-3AD203B41FA5}">
                      <a16:colId xmlns:a16="http://schemas.microsoft.com/office/drawing/2014/main" val="1893971072"/>
                    </a:ext>
                  </a:extLst>
                </a:gridCol>
                <a:gridCol w="1285679">
                  <a:extLst>
                    <a:ext uri="{9D8B030D-6E8A-4147-A177-3AD203B41FA5}">
                      <a16:colId xmlns:a16="http://schemas.microsoft.com/office/drawing/2014/main" val="2485967294"/>
                    </a:ext>
                  </a:extLst>
                </a:gridCol>
                <a:gridCol w="1285679">
                  <a:extLst>
                    <a:ext uri="{9D8B030D-6E8A-4147-A177-3AD203B41FA5}">
                      <a16:colId xmlns:a16="http://schemas.microsoft.com/office/drawing/2014/main" val="86268512"/>
                    </a:ext>
                  </a:extLst>
                </a:gridCol>
                <a:gridCol w="1285679">
                  <a:extLst>
                    <a:ext uri="{9D8B030D-6E8A-4147-A177-3AD203B41FA5}">
                      <a16:colId xmlns:a16="http://schemas.microsoft.com/office/drawing/2014/main" val="3738161062"/>
                    </a:ext>
                  </a:extLst>
                </a:gridCol>
                <a:gridCol w="1285679">
                  <a:extLst>
                    <a:ext uri="{9D8B030D-6E8A-4147-A177-3AD203B41FA5}">
                      <a16:colId xmlns:a16="http://schemas.microsoft.com/office/drawing/2014/main" val="1159433979"/>
                    </a:ext>
                  </a:extLst>
                </a:gridCol>
              </a:tblGrid>
              <a:tr h="18288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Наименование медицинской организации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Муниципальное образование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ОНМК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000206"/>
                  </a:ext>
                </a:extLst>
              </a:tr>
              <a:tr h="838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Статус РСЦ / ПСО / НО с ПРИТ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Коек для ОНМК в КО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Из них коек ПИТ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Коек ОРИТ для ОНМК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30648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76554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БУЗОО «ОКБ»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город Омск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РСЦ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382656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БУЗОО «ГК БСМП № 1»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город Омск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РСЦ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нет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18127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БУЗОО «ККД»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город Омск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ПСО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955751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БУЗОО «КМСЧ № 9»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город Омск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ПСО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91534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БУЗОО «МСЧ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город Омск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ПСО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78999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№ 4»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408291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БУЗОО «Тарская ЦРБ»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город Тара,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ПСО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825108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Тарский район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113761"/>
                  </a:ext>
                </a:extLst>
              </a:tr>
              <a:tr h="182880">
                <a:tc rowSpan="3"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БУЗОО «Исилькульская ЦРБ»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город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ПСО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6328224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Исилькуль,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369706"/>
                  </a:ext>
                </a:extLst>
              </a:tr>
              <a:tr h="33528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Исилькуль-ский район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505619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БУЗОО «Калачинская ЦРБ»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город Калачинск,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ПСО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099410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Калачинский район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2006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Общее число коек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Омская область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4783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7677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1F0176-678B-427F-BAE3-4B8D5C1F7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«номинальных» ПСО 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D53D103D-EEB2-4D5D-9381-B7C28DFD4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48033" y="117835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5F7D58B-022E-473E-A2EA-46A353ED1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Полноценное открытие ПСО с маршрутизацией пациентов в БУЗОО «Калачинская ЦРБ».</a:t>
            </a:r>
          </a:p>
          <a:p>
            <a:r>
              <a:rPr lang="ru-RU" dirty="0"/>
              <a:t>Трансформация номинальных ПСО в центры «Теле-ТЛТ» с подготовкой соответствующих регламентирующих документов. (в МЗ ОО передан пример - приказ Красноярского края).</a:t>
            </a:r>
          </a:p>
        </p:txBody>
      </p:sp>
    </p:spTree>
    <p:extLst>
      <p:ext uri="{BB962C8B-B14F-4D97-AF65-F5344CB8AC3E}">
        <p14:creationId xmlns:p14="http://schemas.microsoft.com/office/powerpoint/2010/main" val="2883663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E9F844-F118-476C-8FEC-2D62F60D2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Центры теле-ТЛТ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BCA6CF-59F1-419C-B41F-1E7AEBE39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Суть: Пациент доставляется в ЦРБ (например, Исилькуль), где ему выполняется КТ. Снимок мгновенно загружается в центральный архив медицинских изображений (ЦАМИ). Дежурный рентгенолог РСЦ в Омске (24/7) описывает снимок, невролог помогает оценить статус пациента по видеосвязи и поддерживает решение о проведении </a:t>
            </a:r>
            <a:r>
              <a:rPr lang="ru-RU" dirty="0" err="1"/>
              <a:t>тромболизиса</a:t>
            </a:r>
            <a:r>
              <a:rPr lang="ru-RU" dirty="0"/>
              <a:t> врачом ЦРБ.</a:t>
            </a:r>
          </a:p>
          <a:p>
            <a:r>
              <a:rPr lang="ru-RU" dirty="0"/>
              <a:t>Результат: Мы приближаем помощь к пациенту, выигрываем драгоценные часы и разгружаем санитарную авиацию от «пустых» вылетов. Для этого необходимо лишь административное решение с подготовкой регламентирующих документов и тарификация телемедицинских услуг в системе ОМС.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9886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997F58-AF94-408C-8839-80E3B97FE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цифровизации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375460-0596-49BD-BFBB-1FEC0EA70C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Проблема</a:t>
            </a:r>
          </a:p>
          <a:p>
            <a:r>
              <a:rPr lang="ru-RU" dirty="0"/>
              <a:t>На текущий момент полноценная работа в региональной медицинской системе (РМИС) ведется только специалистами БУЗОО «ККД» и БУЗОО «ГК БСМП № 1»</a:t>
            </a:r>
          </a:p>
          <a:p>
            <a:r>
              <a:rPr lang="ru-RU" dirty="0"/>
              <a:t>Невозможен централизованный сбор статистики и проведение полноценного анализа работы региона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D3704FC0-894C-4FC2-B9C7-1A9C946B7E3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Решение</a:t>
            </a:r>
          </a:p>
          <a:p>
            <a:r>
              <a:rPr lang="ru-RU" dirty="0"/>
              <a:t>Полноценное внедрение РМИС в работу МО региона</a:t>
            </a:r>
          </a:p>
        </p:txBody>
      </p:sp>
    </p:spTree>
    <p:extLst>
      <p:ext uri="{BB962C8B-B14F-4D97-AF65-F5344CB8AC3E}">
        <p14:creationId xmlns:p14="http://schemas.microsoft.com/office/powerpoint/2010/main" val="33801554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3784A-7CD3-48CA-898E-B632B6AFD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Нейрохирургия и ишемический инсульт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256535-95AA-45C7-8475-880545E0F9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Проблема:</a:t>
            </a:r>
          </a:p>
          <a:p>
            <a:r>
              <a:rPr lang="ru-RU" dirty="0"/>
              <a:t>Отсутствует нейрохирургическое лечения злокачественного течения ишемического инсульта</a:t>
            </a:r>
          </a:p>
          <a:p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8F38F9AA-7DEA-42C1-9069-FAC2BDD2C5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Решение:</a:t>
            </a:r>
          </a:p>
          <a:p>
            <a:r>
              <a:rPr lang="ru-RU" dirty="0"/>
              <a:t>Взятие под ручной контроль ситуации по данному вопросу профильному ГВС нейрохирургу.</a:t>
            </a:r>
          </a:p>
        </p:txBody>
      </p:sp>
    </p:spTree>
    <p:extLst>
      <p:ext uri="{BB962C8B-B14F-4D97-AF65-F5344CB8AC3E}">
        <p14:creationId xmlns:p14="http://schemas.microsoft.com/office/powerpoint/2010/main" val="3063079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3784A-7CD3-48CA-898E-B632B6AFD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Хирургическая профилактика ишемического инсульта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256535-95AA-45C7-8475-880545E0F9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Проблема:</a:t>
            </a:r>
          </a:p>
          <a:p>
            <a:r>
              <a:rPr lang="ru-RU" dirty="0"/>
              <a:t>низкий охват первичной и вторичной профилактики (в отдаленном периоде после сосудистого события) ОНМК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8F38F9AA-7DEA-42C1-9069-FAC2BDD2C5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Решение:</a:t>
            </a:r>
          </a:p>
          <a:p>
            <a:r>
              <a:rPr lang="ru-RU" dirty="0"/>
              <a:t>Раннее выявление стенозов сонных артерий с постановкой кода заболевания в РМИС в виде сопутствующего заболевания</a:t>
            </a:r>
          </a:p>
          <a:p>
            <a:r>
              <a:rPr lang="ru-RU" dirty="0"/>
              <a:t>Необходимо внедрение практики «быстрого трека» для хирургической профилактики повторных инсультов (каротидная </a:t>
            </a:r>
            <a:r>
              <a:rPr lang="ru-RU" dirty="0" err="1"/>
              <a:t>эндартерэктомия</a:t>
            </a:r>
            <a:r>
              <a:rPr lang="ru-RU" dirty="0"/>
              <a:t> в первые 14 дней), которая в регионе на сегодняшний день отсутствует. </a:t>
            </a:r>
          </a:p>
          <a:p>
            <a:r>
              <a:rPr lang="ru-RU" dirty="0"/>
              <a:t>Увеличение объема гос. задания для увеличения покрытия потребности населения региона для снижения заболеваемости и всех вторичных целевых показателей.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88904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3784A-7CD3-48CA-898E-B632B6AFD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Паллиативная помощь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256535-95AA-45C7-8475-880545E0F9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Проблема:</a:t>
            </a:r>
          </a:p>
          <a:p>
            <a:r>
              <a:rPr lang="ru-RU" dirty="0"/>
              <a:t>Крайне низкая доступность паллиативной помощи для пациентов, перенесших ОНМК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8F38F9AA-7DEA-42C1-9069-FAC2BDD2C5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Решение:</a:t>
            </a:r>
          </a:p>
          <a:p>
            <a:r>
              <a:rPr lang="ru-RU" dirty="0"/>
              <a:t>развертывание дополнительных коек данного профиля.</a:t>
            </a:r>
          </a:p>
        </p:txBody>
      </p:sp>
    </p:spTree>
    <p:extLst>
      <p:ext uri="{BB962C8B-B14F-4D97-AF65-F5344CB8AC3E}">
        <p14:creationId xmlns:p14="http://schemas.microsoft.com/office/powerpoint/2010/main" val="10833200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997F58-AF94-408C-8839-80E3B97FE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Маршрутизация </a:t>
            </a:r>
            <a:r>
              <a:rPr lang="ru-RU" dirty="0" err="1"/>
              <a:t>коморбидных</a:t>
            </a:r>
            <a:r>
              <a:rPr lang="ru-RU" dirty="0"/>
              <a:t> пациентов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375460-0596-49BD-BFBB-1FEC0EA70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96319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Проблема</a:t>
            </a:r>
          </a:p>
          <a:p>
            <a:r>
              <a:rPr lang="ru-RU" dirty="0"/>
              <a:t>Существующая система маршрутизации не учитывает пациентов с сочетанной патологией</a:t>
            </a:r>
          </a:p>
          <a:p>
            <a:pPr lvl="1"/>
            <a:r>
              <a:rPr lang="ru-RU" dirty="0"/>
              <a:t>ОНМК и травмы (переломы)</a:t>
            </a:r>
          </a:p>
          <a:p>
            <a:pPr lvl="1"/>
            <a:r>
              <a:rPr lang="ru-RU" dirty="0"/>
              <a:t>ОНМК и острая хирургическая патология</a:t>
            </a:r>
          </a:p>
          <a:p>
            <a:pPr lvl="1"/>
            <a:r>
              <a:rPr lang="ru-RU" dirty="0">
                <a:solidFill>
                  <a:schemeClr val="accent6"/>
                </a:solidFill>
              </a:rPr>
              <a:t>ОНМК и ХПН/ОПН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D3704FC0-894C-4FC2-B9C7-1A9C946B7E3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Решение</a:t>
            </a:r>
          </a:p>
          <a:p>
            <a:r>
              <a:rPr lang="ru-RU" dirty="0"/>
              <a:t>Закрепление жесткой маршрутизации для пациентов с сочетанной патологией в много-профильные стационары независимо от территориального прикрепления, имеющие круглосуточные нейрохирургические, хирургические и травматологические службы.</a:t>
            </a:r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04312739-005A-44DB-9885-89DCCAA47F91}"/>
              </a:ext>
            </a:extLst>
          </p:cNvPr>
          <p:cNvSpPr txBox="1">
            <a:spLocks/>
          </p:cNvSpPr>
          <p:nvPr/>
        </p:nvSpPr>
        <p:spPr>
          <a:xfrm>
            <a:off x="838200" y="4923753"/>
            <a:ext cx="5181600" cy="165615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Что сделано:</a:t>
            </a:r>
          </a:p>
          <a:p>
            <a:r>
              <a:rPr lang="ru-RU" dirty="0"/>
              <a:t>Направлено письмо в МЗОО с обозначением проблемы и вариантом решения: 06.2025 г.</a:t>
            </a:r>
          </a:p>
          <a:p>
            <a:r>
              <a:rPr lang="ru-RU" dirty="0"/>
              <a:t>В рамках разбора мер по достижению показателей «Инцидента №9» заявлена проблема и предложены пути решения.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06470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3784A-7CD3-48CA-898E-B632B6AFD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Кадровая катастрофа (приоритет №1)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256535-95AA-45C7-8475-880545E0F9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Проблема:</a:t>
            </a:r>
          </a:p>
          <a:p>
            <a:r>
              <a:rPr lang="ru-RU" dirty="0"/>
              <a:t>Дефицит кадров в стационарной неврологической службе</a:t>
            </a:r>
          </a:p>
          <a:p>
            <a:pPr lvl="1"/>
            <a:r>
              <a:rPr lang="ru-RU" dirty="0"/>
              <a:t>Отток врачей в частные клиники</a:t>
            </a:r>
          </a:p>
          <a:p>
            <a:pPr lvl="1"/>
            <a:r>
              <a:rPr lang="ru-RU" dirty="0"/>
              <a:t>Переход в смежные специальности</a:t>
            </a:r>
          </a:p>
          <a:p>
            <a:pPr lvl="2"/>
            <a:r>
              <a:rPr lang="ru-RU" dirty="0"/>
              <a:t>Остеопаты </a:t>
            </a:r>
          </a:p>
          <a:p>
            <a:pPr lvl="2"/>
            <a:r>
              <a:rPr lang="ru-RU" dirty="0"/>
              <a:t>Мануальные терапевты</a:t>
            </a:r>
          </a:p>
          <a:p>
            <a:pPr lvl="2"/>
            <a:r>
              <a:rPr lang="ru-RU" dirty="0"/>
              <a:t>Врачи ФРМ</a:t>
            </a:r>
          </a:p>
          <a:p>
            <a:pPr lvl="2"/>
            <a:r>
              <a:rPr lang="ru-RU" dirty="0"/>
              <a:t>Рефлексотерапевты</a:t>
            </a:r>
          </a:p>
          <a:p>
            <a:pPr lvl="1"/>
            <a:r>
              <a:rPr lang="ru-RU" dirty="0"/>
              <a:t>Переезд в другие регионы</a:t>
            </a:r>
          </a:p>
          <a:p>
            <a:pPr lvl="1"/>
            <a:r>
              <a:rPr lang="ru-RU" dirty="0"/>
              <a:t>Средний и младший медицинский персонал предпочитает переход в отделения с высокомобильными пациентами, не требующими постоянного ухода.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8F38F9AA-7DEA-42C1-9069-FAC2BDD2C5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Решение:</a:t>
            </a:r>
          </a:p>
          <a:p>
            <a:r>
              <a:rPr lang="ru-RU" dirty="0"/>
              <a:t>Пересмотр распределения бюджетных (целевых) мест в ординатуре</a:t>
            </a:r>
          </a:p>
          <a:p>
            <a:r>
              <a:rPr lang="ru-RU" dirty="0"/>
              <a:t>Разработать и внедрить региональные надбавки для врачей и среднего персонала, работающих именно в «острой» неврологии.</a:t>
            </a:r>
          </a:p>
          <a:p>
            <a:r>
              <a:rPr lang="ru-RU" dirty="0"/>
              <a:t>Введение доплат для среднего и младшего персонала за уход за тяжелыми больными в рамках тарифов КСГ</a:t>
            </a:r>
          </a:p>
        </p:txBody>
      </p:sp>
    </p:spTree>
    <p:extLst>
      <p:ext uri="{BB962C8B-B14F-4D97-AF65-F5344CB8AC3E}">
        <p14:creationId xmlns:p14="http://schemas.microsoft.com/office/powerpoint/2010/main" val="26413301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EE37B29-5C6B-4732-BF44-5EB67C67E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</a:t>
            </a:r>
            <a:r>
              <a:rPr lang="ru-RU"/>
              <a:t>за внимание!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7DB3FE4-C8A4-4EF9-ABBF-754CCD944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8871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1647</Words>
  <Application>Microsoft Office PowerPoint</Application>
  <PresentationFormat>Широкоэкранный</PresentationFormat>
  <Paragraphs>359</Paragraphs>
  <Slides>28</Slides>
  <Notes>0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Google Sans</vt:lpstr>
      <vt:lpstr>Times New Roman</vt:lpstr>
      <vt:lpstr>Тема Office</vt:lpstr>
      <vt:lpstr>Итоги работы сосудистой неврологической службы за 2025 год.  Меры снижения летальности от острых нарушений мозгового кровообращения. Способы достижения целевых показателей региональной программы по борьбе с сердечно-сосудистыми заболеваниями</vt:lpstr>
      <vt:lpstr>Инсульт в цифрах. Омская область.</vt:lpstr>
      <vt:lpstr>Общая картина летальности.</vt:lpstr>
      <vt:lpstr>Декомпозиция показателя летальности</vt:lpstr>
      <vt:lpstr>Высокая летальность от геморрагического инсульта</vt:lpstr>
      <vt:lpstr>Успешный опыт проведения тестовой ТМК</vt:lpstr>
      <vt:lpstr>Неравномерность качества помощи.</vt:lpstr>
      <vt:lpstr>Реперфузионные методики</vt:lpstr>
      <vt:lpstr>Реперфузия</vt:lpstr>
      <vt:lpstr>Проведенные мероприятия</vt:lpstr>
      <vt:lpstr>Плакаты «УДАР»</vt:lpstr>
      <vt:lpstr>Реперфузия</vt:lpstr>
      <vt:lpstr>Что сделано.</vt:lpstr>
      <vt:lpstr>Реперфузия</vt:lpstr>
      <vt:lpstr>Ежедневные ВКС</vt:lpstr>
      <vt:lpstr>Реперфузия</vt:lpstr>
      <vt:lpstr>«Аппаратные» возможности</vt:lpstr>
      <vt:lpstr>Неравномерность качества помощи.</vt:lpstr>
      <vt:lpstr>Проблема «номинальных» ПСО </vt:lpstr>
      <vt:lpstr>Проблема «номинальных» ПСО </vt:lpstr>
      <vt:lpstr>Центры теле-ТЛТ</vt:lpstr>
      <vt:lpstr>Проблема цифровизации</vt:lpstr>
      <vt:lpstr>Нейрохирургия и ишемический инсульт</vt:lpstr>
      <vt:lpstr>Хирургическая профилактика ишемического инсульта</vt:lpstr>
      <vt:lpstr>Паллиативная помощь</vt:lpstr>
      <vt:lpstr>Маршрутизация коморбидных пациентов</vt:lpstr>
      <vt:lpstr>Кадровая катастрофа (приоритет №1)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Итоги работы сосудистой неврологической службы за 2025 год.  Переход к персонализированной тактике и расширению терапевтического окна как единственным способам достижения целевых показателей региональной программы по борьбе с сердечно-сосудистыми заболеваниями</dc:title>
  <dc:creator>Иван Гапоненко</dc:creator>
  <cp:lastModifiedBy>Иван Гапоненко</cp:lastModifiedBy>
  <cp:revision>58</cp:revision>
  <dcterms:created xsi:type="dcterms:W3CDTF">2026-02-17T14:19:01Z</dcterms:created>
  <dcterms:modified xsi:type="dcterms:W3CDTF">2026-02-19T16:16:47Z</dcterms:modified>
</cp:coreProperties>
</file>